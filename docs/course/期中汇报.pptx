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047" y="6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5876" y="1798320"/>
            <a:ext cx="3278124" cy="474116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" y="81770"/>
            <a:ext cx="2535936" cy="94620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95571" y="202692"/>
            <a:ext cx="803148" cy="60197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03035" y="172212"/>
            <a:ext cx="1042415" cy="6111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19871" y="172212"/>
            <a:ext cx="947927" cy="61112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29271" y="176784"/>
            <a:ext cx="906779" cy="60198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90159" y="196595"/>
            <a:ext cx="819912" cy="6156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82746" y="2214829"/>
            <a:ext cx="185420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23984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55570" y="3749295"/>
            <a:ext cx="3832859" cy="1294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2398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23984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2398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23984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" y="833627"/>
            <a:ext cx="4317492" cy="2895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508" y="6477000"/>
            <a:ext cx="4317492" cy="289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8292" y="2438400"/>
            <a:ext cx="2758439" cy="27584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23984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8036" y="833627"/>
            <a:ext cx="4317492" cy="2895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26508" y="6477000"/>
            <a:ext cx="4317492" cy="289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7436" y="63195"/>
            <a:ext cx="186055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23984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0641" y="1493265"/>
            <a:ext cx="7879715" cy="4507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2398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20" dirty="0">
                <a:solidFill>
                  <a:srgbClr val="163889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PMingLiU"/>
              </a:rPr>
              <a:t>期中汇报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8340">
              <a:lnSpc>
                <a:spcPct val="130100"/>
              </a:lnSpc>
              <a:spcBef>
                <a:spcPts val="100"/>
              </a:spcBef>
            </a:pPr>
            <a:r>
              <a:rPr sz="3200" dirty="0"/>
              <a:t>Weiguo</a:t>
            </a:r>
            <a:r>
              <a:rPr sz="3200" spc="-25" dirty="0"/>
              <a:t> </a:t>
            </a:r>
            <a:r>
              <a:rPr sz="3200" spc="-10" dirty="0"/>
              <a:t>Zheng </a:t>
            </a:r>
            <a:r>
              <a:rPr sz="3200" dirty="0"/>
              <a:t>School</a:t>
            </a:r>
            <a:r>
              <a:rPr sz="3200" spc="-50" dirty="0"/>
              <a:t> </a:t>
            </a:r>
            <a:r>
              <a:rPr sz="3200" dirty="0"/>
              <a:t>of</a:t>
            </a:r>
            <a:r>
              <a:rPr sz="3200" spc="-20" dirty="0"/>
              <a:t> </a:t>
            </a:r>
            <a:r>
              <a:rPr sz="3200" dirty="0"/>
              <a:t>Data</a:t>
            </a:r>
            <a:r>
              <a:rPr sz="3200" spc="-20" dirty="0"/>
              <a:t> </a:t>
            </a:r>
            <a:r>
              <a:rPr sz="3200" spc="-10" dirty="0"/>
              <a:t>Science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8954516" y="649203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任务示例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641" y="1097026"/>
            <a:ext cx="7973695" cy="500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3230" indent="-430530">
              <a:lnSpc>
                <a:spcPct val="100000"/>
              </a:lnSpc>
              <a:spcBef>
                <a:spcPts val="100"/>
              </a:spcBef>
              <a:buAutoNum type="arabicParenBoth"/>
              <a:tabLst>
                <a:tab pos="443230" algn="l"/>
              </a:tabLst>
            </a:pP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Frequent</a:t>
            </a:r>
            <a:r>
              <a:rPr sz="2400" spc="-2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subgraph</a:t>
            </a:r>
            <a:r>
              <a:rPr sz="2400" spc="-1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pattern</a:t>
            </a:r>
            <a:r>
              <a:rPr sz="2400" spc="-4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mining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over</a:t>
            </a:r>
            <a:r>
              <a:rPr sz="2400" spc="-1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single</a:t>
            </a:r>
            <a:r>
              <a:rPr sz="2400" spc="-2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large</a:t>
            </a:r>
            <a:r>
              <a:rPr sz="2400" spc="-3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graph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0"/>
              </a:spcBef>
              <a:buClr>
                <a:srgbClr val="123984"/>
              </a:buClr>
              <a:buFont typeface="Times New Roman"/>
              <a:buAutoNum type="arabicParenBoth"/>
            </a:pPr>
            <a:endParaRPr sz="2400">
              <a:latin typeface="Times New Roman"/>
              <a:cs typeface="Times New Roman"/>
            </a:endParaRPr>
          </a:p>
          <a:p>
            <a:pPr marL="443230" indent="-430530">
              <a:lnSpc>
                <a:spcPct val="100000"/>
              </a:lnSpc>
              <a:buAutoNum type="arabicParenBoth"/>
              <a:tabLst>
                <a:tab pos="443230" algn="l"/>
              </a:tabLst>
            </a:pPr>
            <a:r>
              <a:rPr sz="2400" spc="-20" dirty="0">
                <a:solidFill>
                  <a:srgbClr val="123984"/>
                </a:solidFill>
                <a:latin typeface="Times New Roman"/>
                <a:cs typeface="Times New Roman"/>
              </a:rPr>
              <a:t>K-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hop</a:t>
            </a:r>
            <a:r>
              <a:rPr sz="2400" spc="1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reachability: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575"/>
              </a:spcBef>
            </a:pP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Given</a:t>
            </a:r>
            <a:r>
              <a:rPr sz="2400" spc="-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a</a:t>
            </a:r>
            <a:r>
              <a:rPr sz="2400" spc="-1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directed</a:t>
            </a:r>
            <a:r>
              <a:rPr sz="2400" spc="-4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graph</a:t>
            </a:r>
            <a:r>
              <a:rPr sz="2400" spc="-1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G,</a:t>
            </a:r>
            <a:r>
              <a:rPr sz="2400" spc="-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asks</a:t>
            </a:r>
            <a:r>
              <a:rPr sz="2400" spc="-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whether</a:t>
            </a:r>
            <a:r>
              <a:rPr sz="2400" spc="-2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vertex</a:t>
            </a:r>
            <a:r>
              <a:rPr sz="2400" spc="-2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u</a:t>
            </a:r>
            <a:r>
              <a:rPr sz="2400" spc="-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can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reach</a:t>
            </a:r>
            <a:r>
              <a:rPr sz="2400" spc="-1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vertex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v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within</a:t>
            </a:r>
            <a:r>
              <a:rPr sz="2400" spc="-3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k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123984"/>
                </a:solidFill>
                <a:latin typeface="Times New Roman"/>
                <a:cs typeface="Times New Roman"/>
              </a:rPr>
              <a:t>hops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2400">
              <a:latin typeface="Times New Roman"/>
              <a:cs typeface="Times New Roman"/>
            </a:endParaRPr>
          </a:p>
          <a:p>
            <a:pPr marL="443230" indent="-430530">
              <a:lnSpc>
                <a:spcPct val="100000"/>
              </a:lnSpc>
              <a:buAutoNum type="arabicParenBoth" startAt="3"/>
              <a:tabLst>
                <a:tab pos="443230" algn="l"/>
              </a:tabLst>
            </a:pP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Label-constraint</a:t>
            </a:r>
            <a:r>
              <a:rPr sz="2400" spc="-4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reachability: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865"/>
              </a:spcBef>
            </a:pP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Given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a</a:t>
            </a:r>
            <a:r>
              <a:rPr sz="2400" spc="-2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directed</a:t>
            </a:r>
            <a:r>
              <a:rPr sz="2400" spc="-3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labeled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graph</a:t>
            </a:r>
            <a:r>
              <a:rPr sz="2400" spc="-2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G,</a:t>
            </a:r>
            <a:r>
              <a:rPr sz="2400" spc="-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asks</a:t>
            </a:r>
            <a:r>
              <a:rPr sz="2400" spc="-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whether</a:t>
            </a:r>
            <a:r>
              <a:rPr sz="2400" spc="-2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vertex</a:t>
            </a:r>
            <a:r>
              <a:rPr sz="2400" spc="-3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u</a:t>
            </a:r>
            <a:r>
              <a:rPr sz="2400" spc="-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123984"/>
                </a:solidFill>
                <a:latin typeface="Times New Roman"/>
                <a:cs typeface="Times New Roman"/>
              </a:rPr>
              <a:t>can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reach</a:t>
            </a:r>
            <a:r>
              <a:rPr sz="2400" spc="-3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vertex</a:t>
            </a:r>
            <a:r>
              <a:rPr sz="2400" spc="-2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v</a:t>
            </a:r>
            <a:r>
              <a:rPr sz="2400" spc="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following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label</a:t>
            </a:r>
            <a:r>
              <a:rPr sz="2400" spc="-1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constraints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0"/>
              </a:spcBef>
            </a:pPr>
            <a:endParaRPr sz="2400">
              <a:latin typeface="Times New Roman"/>
              <a:cs typeface="Times New Roman"/>
            </a:endParaRPr>
          </a:p>
          <a:p>
            <a:pPr marL="443230" indent="-430530">
              <a:lnSpc>
                <a:spcPct val="100000"/>
              </a:lnSpc>
              <a:buAutoNum type="arabicParenBoth" startAt="4"/>
              <a:tabLst>
                <a:tab pos="443230" algn="l"/>
              </a:tabLst>
            </a:pP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Reachability</a:t>
            </a:r>
            <a:r>
              <a:rPr sz="2400" spc="-40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on</a:t>
            </a:r>
            <a:r>
              <a:rPr sz="2400" spc="-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123984"/>
                </a:solidFill>
                <a:latin typeface="Times New Roman"/>
                <a:cs typeface="Times New Roman"/>
              </a:rPr>
              <a:t>dynamic</a:t>
            </a:r>
            <a:r>
              <a:rPr sz="2400" spc="-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graphs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436" y="81483"/>
            <a:ext cx="24923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265" indent="-456565">
              <a:lnSpc>
                <a:spcPts val="2585"/>
              </a:lnSpc>
              <a:buSzPct val="120000"/>
              <a:buAutoNum type="arabicPeriod"/>
              <a:tabLst>
                <a:tab pos="469265" algn="l"/>
              </a:tabLst>
            </a:pPr>
            <a:r>
              <a:rPr dirty="0"/>
              <a:t>Efficient</a:t>
            </a:r>
            <a:r>
              <a:rPr spc="-45" dirty="0"/>
              <a:t> </a:t>
            </a:r>
            <a:r>
              <a:rPr dirty="0"/>
              <a:t>Processing</a:t>
            </a:r>
            <a:r>
              <a:rPr spc="-5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K-Hop</a:t>
            </a:r>
            <a:r>
              <a:rPr spc="-40" dirty="0"/>
              <a:t> </a:t>
            </a:r>
            <a:r>
              <a:rPr dirty="0"/>
              <a:t>Reachability</a:t>
            </a:r>
            <a:r>
              <a:rPr spc="-40" dirty="0"/>
              <a:t> </a:t>
            </a:r>
            <a:r>
              <a:rPr spc="-10" dirty="0"/>
              <a:t>Queries</a:t>
            </a:r>
          </a:p>
          <a:p>
            <a:pPr>
              <a:lnSpc>
                <a:spcPct val="100000"/>
              </a:lnSpc>
              <a:spcBef>
                <a:spcPts val="1220"/>
              </a:spcBef>
              <a:buAutoNum type="arabicPeriod"/>
            </a:pPr>
            <a:endParaRPr spc="-10" dirty="0"/>
          </a:p>
          <a:p>
            <a:pPr marL="12700" marR="5080" indent="253365">
              <a:lnSpc>
                <a:spcPct val="110000"/>
              </a:lnSpc>
              <a:buAutoNum type="arabicPeriod"/>
              <a:tabLst>
                <a:tab pos="266065" algn="l"/>
              </a:tabLst>
            </a:pPr>
            <a:r>
              <a:rPr dirty="0"/>
              <a:t>BFSI-B:</a:t>
            </a:r>
            <a:r>
              <a:rPr spc="-20" dirty="0"/>
              <a:t> </a:t>
            </a:r>
            <a:r>
              <a:rPr dirty="0"/>
              <a:t>An</a:t>
            </a:r>
            <a:r>
              <a:rPr spc="5" dirty="0"/>
              <a:t> </a:t>
            </a:r>
            <a:r>
              <a:rPr dirty="0"/>
              <a:t>improved</a:t>
            </a:r>
            <a:r>
              <a:rPr spc="-15" dirty="0"/>
              <a:t> </a:t>
            </a:r>
            <a:r>
              <a:rPr spc="-20" dirty="0"/>
              <a:t>K-</a:t>
            </a:r>
            <a:r>
              <a:rPr dirty="0"/>
              <a:t>hop</a:t>
            </a:r>
            <a:r>
              <a:rPr spc="-25" dirty="0"/>
              <a:t> </a:t>
            </a:r>
            <a:r>
              <a:rPr dirty="0"/>
              <a:t>graph</a:t>
            </a:r>
            <a:r>
              <a:rPr spc="-35" dirty="0"/>
              <a:t> </a:t>
            </a:r>
            <a:r>
              <a:rPr dirty="0"/>
              <a:t>reachability</a:t>
            </a:r>
            <a:r>
              <a:rPr spc="-25" dirty="0"/>
              <a:t> </a:t>
            </a:r>
            <a:r>
              <a:rPr dirty="0"/>
              <a:t>queries</a:t>
            </a:r>
            <a:r>
              <a:rPr spc="-4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cyber-</a:t>
            </a:r>
            <a:r>
              <a:rPr spc="-10" dirty="0"/>
              <a:t>physical systems</a:t>
            </a:r>
          </a:p>
          <a:p>
            <a:pPr>
              <a:lnSpc>
                <a:spcPct val="100000"/>
              </a:lnSpc>
              <a:spcBef>
                <a:spcPts val="1545"/>
              </a:spcBef>
              <a:buAutoNum type="arabicPeriod"/>
            </a:pPr>
            <a:endParaRPr spc="-10" dirty="0"/>
          </a:p>
          <a:p>
            <a:pPr marL="266065" indent="-253365">
              <a:lnSpc>
                <a:spcPct val="100000"/>
              </a:lnSpc>
              <a:buAutoNum type="arabicPeriod"/>
              <a:tabLst>
                <a:tab pos="266065" algn="l"/>
              </a:tabLst>
            </a:pPr>
            <a:r>
              <a:rPr spc="-10" dirty="0"/>
              <a:t>K-</a:t>
            </a:r>
            <a:r>
              <a:rPr dirty="0"/>
              <a:t>Reach:</a:t>
            </a:r>
            <a:r>
              <a:rPr spc="-35" dirty="0"/>
              <a:t> </a:t>
            </a:r>
            <a:r>
              <a:rPr dirty="0"/>
              <a:t>Who</a:t>
            </a:r>
            <a:r>
              <a:rPr spc="-3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dirty="0"/>
              <a:t>Small</a:t>
            </a:r>
            <a:r>
              <a:rPr spc="-5" dirty="0"/>
              <a:t> </a:t>
            </a:r>
            <a:r>
              <a:rPr spc="-10" dirty="0"/>
              <a:t>World</a:t>
            </a:r>
          </a:p>
          <a:p>
            <a:pPr>
              <a:lnSpc>
                <a:spcPct val="100000"/>
              </a:lnSpc>
              <a:spcBef>
                <a:spcPts val="1540"/>
              </a:spcBef>
              <a:buAutoNum type="arabicPeriod"/>
            </a:pPr>
            <a:endParaRPr spc="-10" dirty="0"/>
          </a:p>
          <a:p>
            <a:pPr marL="266065" indent="-253365">
              <a:lnSpc>
                <a:spcPct val="100000"/>
              </a:lnSpc>
              <a:buAutoNum type="arabicPeriod"/>
              <a:tabLst>
                <a:tab pos="266065" algn="l"/>
              </a:tabLst>
            </a:pPr>
            <a:r>
              <a:rPr spc="-10" dirty="0"/>
              <a:t>C-</a:t>
            </a:r>
            <a:r>
              <a:rPr dirty="0"/>
              <a:t>Graph:</a:t>
            </a:r>
            <a:r>
              <a:rPr spc="-5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Highly</a:t>
            </a:r>
            <a:r>
              <a:rPr spc="-35" dirty="0"/>
              <a:t> </a:t>
            </a:r>
            <a:r>
              <a:rPr dirty="0"/>
              <a:t>Efficient</a:t>
            </a:r>
            <a:r>
              <a:rPr spc="-35" dirty="0"/>
              <a:t> </a:t>
            </a:r>
            <a:r>
              <a:rPr dirty="0"/>
              <a:t>Concurrent</a:t>
            </a:r>
            <a:r>
              <a:rPr spc="-40" dirty="0"/>
              <a:t> </a:t>
            </a:r>
            <a:r>
              <a:rPr dirty="0"/>
              <a:t>Graph</a:t>
            </a:r>
            <a:r>
              <a:rPr spc="-25" dirty="0"/>
              <a:t> </a:t>
            </a:r>
            <a:r>
              <a:rPr dirty="0"/>
              <a:t>Reachability</a:t>
            </a:r>
            <a:r>
              <a:rPr spc="-30" dirty="0"/>
              <a:t> </a:t>
            </a:r>
            <a:r>
              <a:rPr spc="-10" dirty="0"/>
              <a:t>Query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10" dirty="0"/>
              <a:t>Framework</a:t>
            </a: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pc="-10" dirty="0"/>
          </a:p>
          <a:p>
            <a:pPr marL="12700" marR="227965" indent="253365">
              <a:lnSpc>
                <a:spcPct val="110000"/>
              </a:lnSpc>
              <a:buAutoNum type="arabicPeriod" startAt="5"/>
              <a:tabLst>
                <a:tab pos="266065" algn="l"/>
              </a:tabLst>
            </a:pPr>
            <a:r>
              <a:rPr dirty="0"/>
              <a:t>Answering</a:t>
            </a:r>
            <a:r>
              <a:rPr spc="-55" dirty="0"/>
              <a:t> </a:t>
            </a:r>
            <a:r>
              <a:rPr dirty="0"/>
              <a:t>Billion-Scale</a:t>
            </a:r>
            <a:r>
              <a:rPr spc="-60" dirty="0"/>
              <a:t> </a:t>
            </a:r>
            <a:r>
              <a:rPr dirty="0"/>
              <a:t>Label-Constrained</a:t>
            </a:r>
            <a:r>
              <a:rPr spc="-45" dirty="0"/>
              <a:t> </a:t>
            </a:r>
            <a:r>
              <a:rPr dirty="0"/>
              <a:t>Reachability</a:t>
            </a:r>
            <a:r>
              <a:rPr spc="-40" dirty="0"/>
              <a:t> </a:t>
            </a:r>
            <a:r>
              <a:rPr dirty="0"/>
              <a:t>Queries</a:t>
            </a:r>
            <a:r>
              <a:rPr spc="-55" dirty="0"/>
              <a:t> </a:t>
            </a:r>
            <a:r>
              <a:rPr spc="-10" dirty="0"/>
              <a:t>within Microsecond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latin typeface="华文楷体" panose="02010600040101010101" pitchFamily="2" charset="-122"/>
                <a:ea typeface="华文楷体" panose="02010600040101010101" pitchFamily="2" charset="-122"/>
              </a:rPr>
              <a:t>评价指标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240" y="1812035"/>
            <a:ext cx="254508" cy="2560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240" y="2287523"/>
            <a:ext cx="254508" cy="2560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240" y="3238500"/>
            <a:ext cx="254508" cy="2560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240" y="4585715"/>
            <a:ext cx="254508" cy="25603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0641" y="831850"/>
            <a:ext cx="7990205" cy="4080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Microsoft JhengHei"/>
              </a:rPr>
              <a:t>上述任务中任选一个，也可以自拟题目，要求跟图算法、任</a:t>
            </a:r>
            <a:r>
              <a:rPr sz="2400" b="1" spc="-15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Microsoft JhengHei"/>
              </a:rPr>
              <a:t>务有关。</a:t>
            </a:r>
            <a:endParaRPr sz="2400">
              <a:latin typeface="华文楷体" panose="02010600040101010101" pitchFamily="2" charset="-122"/>
              <a:ea typeface="华文楷体" panose="02010600040101010101" pitchFamily="2" charset="-122"/>
              <a:cs typeface="Microsoft JhengHei"/>
            </a:endParaRPr>
          </a:p>
          <a:p>
            <a:pPr marL="462280">
              <a:lnSpc>
                <a:spcPct val="100000"/>
              </a:lnSpc>
              <a:spcBef>
                <a:spcPts val="860"/>
              </a:spcBef>
            </a:pPr>
            <a:r>
              <a:rPr sz="2400" spc="-10" dirty="0">
                <a:solidFill>
                  <a:srgbClr val="123984"/>
                </a:solidFill>
                <a:latin typeface="SimSun"/>
                <a:cs typeface="SimSun"/>
              </a:rPr>
              <a:t>针对选定的题目阅读并汇报相关的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1</a:t>
            </a:r>
            <a:r>
              <a:rPr sz="2400" spc="-20" dirty="0">
                <a:solidFill>
                  <a:srgbClr val="123984"/>
                </a:solidFill>
                <a:latin typeface="SimSun"/>
                <a:cs typeface="SimSun"/>
              </a:rPr>
              <a:t>篇或多篇论文</a:t>
            </a:r>
            <a:endParaRPr sz="2400">
              <a:latin typeface="SimSun"/>
              <a:cs typeface="SimSun"/>
            </a:endParaRPr>
          </a:p>
          <a:p>
            <a:pPr marL="462280">
              <a:lnSpc>
                <a:spcPct val="100000"/>
              </a:lnSpc>
              <a:spcBef>
                <a:spcPts val="869"/>
              </a:spcBef>
            </a:pPr>
            <a:r>
              <a:rPr sz="2400" spc="-5" dirty="0">
                <a:solidFill>
                  <a:srgbClr val="123984"/>
                </a:solidFill>
                <a:latin typeface="SimSun"/>
                <a:cs typeface="SimSun"/>
              </a:rPr>
              <a:t>可以汇报调研的论文，也可以讨论自己的思路或方案</a:t>
            </a:r>
            <a:endParaRPr sz="24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2400">
              <a:latin typeface="SimSun"/>
              <a:cs typeface="SimSun"/>
            </a:endParaRPr>
          </a:p>
          <a:p>
            <a:pPr marL="462280">
              <a:lnSpc>
                <a:spcPct val="100000"/>
              </a:lnSpc>
              <a:spcBef>
                <a:spcPts val="5"/>
              </a:spcBef>
            </a:pPr>
            <a:r>
              <a:rPr sz="2400">
                <a:solidFill>
                  <a:srgbClr val="123984"/>
                </a:solidFill>
                <a:latin typeface="Times New Roman"/>
                <a:cs typeface="Times New Roman"/>
              </a:rPr>
              <a:t>Presentation</a:t>
            </a:r>
            <a:r>
              <a:rPr sz="2400" spc="-3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>
                <a:solidFill>
                  <a:srgbClr val="123984"/>
                </a:solidFill>
                <a:latin typeface="Times New Roman"/>
                <a:cs typeface="Times New Roman"/>
              </a:rPr>
              <a:t>(</a:t>
            </a:r>
            <a:r>
              <a:rPr lang="en-US" sz="2400">
                <a:solidFill>
                  <a:srgbClr val="123984"/>
                </a:solidFill>
                <a:latin typeface="Times New Roman"/>
                <a:cs typeface="Times New Roman"/>
              </a:rPr>
              <a:t>12</a:t>
            </a:r>
            <a:r>
              <a:rPr sz="2400" spc="-5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123984"/>
                </a:solidFill>
                <a:latin typeface="Times New Roman"/>
                <a:cs typeface="Times New Roman"/>
              </a:rPr>
              <a:t>minutes)</a:t>
            </a:r>
            <a:endParaRPr sz="2400">
              <a:latin typeface="Times New Roman"/>
              <a:cs typeface="Times New Roman"/>
            </a:endParaRPr>
          </a:p>
          <a:p>
            <a:pPr marL="926465" indent="-284480">
              <a:lnSpc>
                <a:spcPct val="100000"/>
              </a:lnSpc>
              <a:spcBef>
                <a:spcPts val="825"/>
              </a:spcBef>
              <a:buClr>
                <a:srgbClr val="000066"/>
              </a:buClr>
              <a:buChar char="•"/>
              <a:tabLst>
                <a:tab pos="926465" algn="l"/>
              </a:tabLst>
            </a:pPr>
            <a:r>
              <a:rPr sz="2200">
                <a:solidFill>
                  <a:srgbClr val="123984"/>
                </a:solidFill>
                <a:latin typeface="Times New Roman"/>
                <a:cs typeface="Times New Roman"/>
              </a:rPr>
              <a:t>1</a:t>
            </a:r>
            <a:r>
              <a:rPr lang="en-US" sz="2200">
                <a:solidFill>
                  <a:srgbClr val="123984"/>
                </a:solidFill>
                <a:latin typeface="Times New Roman"/>
                <a:cs typeface="Times New Roman"/>
              </a:rPr>
              <a:t>0</a:t>
            </a:r>
            <a:r>
              <a:rPr sz="2200" spc="-25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123984"/>
                </a:solidFill>
                <a:latin typeface="Times New Roman"/>
                <a:cs typeface="Times New Roman"/>
              </a:rPr>
              <a:t>minutes</a:t>
            </a:r>
            <a:endParaRPr sz="2200">
              <a:latin typeface="Times New Roman"/>
              <a:cs typeface="Times New Roman"/>
            </a:endParaRPr>
          </a:p>
          <a:p>
            <a:pPr marL="926465" indent="-284480">
              <a:lnSpc>
                <a:spcPct val="100000"/>
              </a:lnSpc>
              <a:spcBef>
                <a:spcPts val="790"/>
              </a:spcBef>
              <a:buClr>
                <a:srgbClr val="000066"/>
              </a:buClr>
              <a:buChar char="•"/>
              <a:tabLst>
                <a:tab pos="926465" algn="l"/>
              </a:tabLst>
            </a:pPr>
            <a:r>
              <a:rPr lang="en-US" sz="2200">
                <a:solidFill>
                  <a:srgbClr val="123984"/>
                </a:solidFill>
                <a:latin typeface="Times New Roman"/>
                <a:cs typeface="Times New Roman"/>
              </a:rPr>
              <a:t>2</a:t>
            </a:r>
            <a:r>
              <a:rPr sz="2200" spc="-35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123984"/>
                </a:solidFill>
                <a:latin typeface="Times New Roman"/>
                <a:cs typeface="Times New Roman"/>
              </a:rPr>
              <a:t>minutes</a:t>
            </a:r>
            <a:r>
              <a:rPr sz="2200" spc="-5" dirty="0">
                <a:solidFill>
                  <a:srgbClr val="123984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123984"/>
                </a:solidFill>
                <a:latin typeface="Times New Roman"/>
                <a:cs typeface="Times New Roman"/>
              </a:rPr>
              <a:t>Q/A</a:t>
            </a:r>
            <a:endParaRPr sz="2200">
              <a:latin typeface="Times New Roman"/>
              <a:cs typeface="Times New Roman"/>
            </a:endParaRPr>
          </a:p>
          <a:p>
            <a:pPr marL="462280">
              <a:lnSpc>
                <a:spcPct val="100000"/>
              </a:lnSpc>
              <a:spcBef>
                <a:spcPts val="830"/>
              </a:spcBef>
            </a:pPr>
            <a:r>
              <a:rPr sz="2400" spc="-20" dirty="0">
                <a:solidFill>
                  <a:srgbClr val="123984"/>
                </a:solidFill>
                <a:latin typeface="SimSun"/>
                <a:cs typeface="SimSun"/>
              </a:rPr>
              <a:t>评分要点</a:t>
            </a:r>
            <a:endParaRPr sz="2400">
              <a:latin typeface="SimSun"/>
              <a:cs typeface="SimSu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0053" y="4890719"/>
            <a:ext cx="3760470" cy="176911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890"/>
              </a:spcBef>
              <a:buClr>
                <a:srgbClr val="000066"/>
              </a:buClr>
              <a:buFont typeface="Times New Roman"/>
              <a:buChar char="•"/>
              <a:tabLst>
                <a:tab pos="297180" algn="l"/>
              </a:tabLst>
            </a:pPr>
            <a:r>
              <a:rPr sz="2200" spc="-25" dirty="0">
                <a:solidFill>
                  <a:srgbClr val="123984"/>
                </a:solidFill>
                <a:latin typeface="SimSun"/>
                <a:cs typeface="SimSun"/>
              </a:rPr>
              <a:t>讲清楚</a:t>
            </a:r>
            <a:r>
              <a:rPr sz="2200" spc="-10" dirty="0">
                <a:solidFill>
                  <a:srgbClr val="123984"/>
                </a:solidFill>
                <a:latin typeface="Times New Roman"/>
                <a:cs typeface="Times New Roman"/>
              </a:rPr>
              <a:t>motivation</a:t>
            </a:r>
            <a:r>
              <a:rPr sz="2200" spc="-35" dirty="0">
                <a:solidFill>
                  <a:srgbClr val="123984"/>
                </a:solidFill>
                <a:latin typeface="SimSun"/>
                <a:cs typeface="SimSun"/>
              </a:rPr>
              <a:t>、问题定义</a:t>
            </a:r>
            <a:endParaRPr sz="2200">
              <a:latin typeface="SimSun"/>
              <a:cs typeface="SimSun"/>
            </a:endParaRPr>
          </a:p>
          <a:p>
            <a:pPr marL="297180" indent="-284480">
              <a:lnSpc>
                <a:spcPct val="100000"/>
              </a:lnSpc>
              <a:spcBef>
                <a:spcPts val="795"/>
              </a:spcBef>
              <a:buClr>
                <a:srgbClr val="000066"/>
              </a:buClr>
              <a:buFont typeface="Times New Roman"/>
              <a:buChar char="•"/>
              <a:tabLst>
                <a:tab pos="297180" algn="l"/>
              </a:tabLst>
            </a:pPr>
            <a:r>
              <a:rPr sz="2200" spc="-35" dirty="0">
                <a:solidFill>
                  <a:srgbClr val="123984"/>
                </a:solidFill>
                <a:latin typeface="SimSun"/>
                <a:cs typeface="SimSun"/>
              </a:rPr>
              <a:t>讲清楚思路、框架</a:t>
            </a:r>
            <a:endParaRPr sz="2200">
              <a:latin typeface="SimSun"/>
              <a:cs typeface="SimSun"/>
            </a:endParaRPr>
          </a:p>
          <a:p>
            <a:pPr marL="297180" indent="-284480">
              <a:lnSpc>
                <a:spcPct val="100000"/>
              </a:lnSpc>
              <a:spcBef>
                <a:spcPts val="790"/>
              </a:spcBef>
              <a:buClr>
                <a:srgbClr val="000066"/>
              </a:buClr>
              <a:buFont typeface="Times New Roman"/>
              <a:buChar char="•"/>
              <a:tabLst>
                <a:tab pos="297180" algn="l"/>
              </a:tabLst>
            </a:pPr>
            <a:r>
              <a:rPr sz="2200" spc="-35" dirty="0">
                <a:solidFill>
                  <a:srgbClr val="123984"/>
                </a:solidFill>
                <a:latin typeface="SimSun"/>
                <a:cs typeface="SimSun"/>
              </a:rPr>
              <a:t>所采用的技术</a:t>
            </a:r>
            <a:endParaRPr sz="2200">
              <a:latin typeface="SimSun"/>
              <a:cs typeface="SimSun"/>
            </a:endParaRPr>
          </a:p>
          <a:p>
            <a:pPr marL="297180" indent="-284480">
              <a:lnSpc>
                <a:spcPct val="100000"/>
              </a:lnSpc>
              <a:spcBef>
                <a:spcPts val="795"/>
              </a:spcBef>
              <a:buClr>
                <a:srgbClr val="000066"/>
              </a:buClr>
              <a:buFont typeface="Times New Roman"/>
              <a:buChar char="•"/>
              <a:tabLst>
                <a:tab pos="297180" algn="l"/>
              </a:tabLst>
            </a:pPr>
            <a:r>
              <a:rPr sz="2200" spc="-35" dirty="0">
                <a:solidFill>
                  <a:srgbClr val="123984"/>
                </a:solidFill>
                <a:latin typeface="SimSun"/>
                <a:cs typeface="SimSun"/>
              </a:rPr>
              <a:t>创新点</a:t>
            </a:r>
            <a:endParaRPr sz="2200">
              <a:latin typeface="SimSun"/>
              <a:cs typeface="SimSu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97316" y="649203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436" y="131775"/>
            <a:ext cx="196616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800" b="1" spc="-45">
                <a:solidFill>
                  <a:srgbClr val="123984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Microsoft JhengHei"/>
              </a:rPr>
              <a:t>要求与</a:t>
            </a:r>
            <a:r>
              <a:rPr sz="2800" b="1" spc="-45">
                <a:solidFill>
                  <a:srgbClr val="123984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Microsoft JhengHei"/>
              </a:rPr>
              <a:t>提示</a:t>
            </a:r>
            <a:endParaRPr sz="2800">
              <a:latin typeface="华文楷体" panose="02010600040101010101" pitchFamily="2" charset="-122"/>
              <a:ea typeface="华文楷体" panose="02010600040101010101" pitchFamily="2" charset="-122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240" y="1162811"/>
            <a:ext cx="254508" cy="25603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60220" y="1097026"/>
            <a:ext cx="330697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0" spc="-10"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每个小组建议</a:t>
            </a:r>
            <a:r>
              <a:rPr lang="en-US" altLang="zh-CN" sz="2400" b="0" spc="-10"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4</a:t>
            </a:r>
            <a:r>
              <a:rPr lang="zh-CN" altLang="en-US" sz="2400" b="0" spc="-10"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人</a:t>
            </a:r>
            <a:br>
              <a:rPr lang="en-US" sz="2400" b="0" spc="-10"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</a:br>
            <a:endParaRPr sz="2400">
              <a:latin typeface="华文楷体" panose="02010600040101010101" pitchFamily="2" charset="-122"/>
              <a:ea typeface="华文楷体" panose="02010600040101010101" pitchFamily="2" charset="-122"/>
              <a:cs typeface="SimSu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240" y="2113788"/>
            <a:ext cx="254508" cy="2560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240" y="3064764"/>
            <a:ext cx="254508" cy="2560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60221" y="2048383"/>
            <a:ext cx="5669179" cy="131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10">
                <a:solidFill>
                  <a:srgbClr val="123984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最新的相关工作，</a:t>
            </a:r>
            <a:r>
              <a:rPr sz="2400" spc="-10">
                <a:solidFill>
                  <a:srgbClr val="123984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设计自己的改进方法</a:t>
            </a:r>
            <a:endParaRPr sz="2400">
              <a:latin typeface="华文楷体" panose="02010600040101010101" pitchFamily="2" charset="-122"/>
              <a:ea typeface="华文楷体" panose="02010600040101010101" pitchFamily="2" charset="-122"/>
              <a:cs typeface="SimSun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2400">
              <a:latin typeface="华文楷体" panose="02010600040101010101" pitchFamily="2" charset="-122"/>
              <a:ea typeface="华文楷体" panose="02010600040101010101" pitchFamily="2" charset="-122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2400" spc="-10">
                <a:solidFill>
                  <a:srgbClr val="123984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SimSun"/>
              </a:rPr>
              <a:t>展示时间：</a:t>
            </a:r>
            <a:r>
              <a:rPr lang="zh-CN" altLang="en-US" sz="2400" spc="-10">
                <a:solidFill>
                  <a:srgbClr val="123984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/>
              </a:rPr>
              <a:t>第</a:t>
            </a:r>
            <a:r>
              <a:rPr lang="en-US" altLang="zh-CN" sz="2400" spc="-10">
                <a:solidFill>
                  <a:srgbClr val="123984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/>
              </a:rPr>
              <a:t>9-10</a:t>
            </a:r>
            <a:r>
              <a:rPr lang="zh-CN" altLang="en-US" sz="2400" spc="-10">
                <a:solidFill>
                  <a:srgbClr val="123984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/>
              </a:rPr>
              <a:t>周</a:t>
            </a:r>
            <a:endParaRPr sz="2400">
              <a:latin typeface="华文楷体" panose="02010600040101010101" pitchFamily="2" charset="-122"/>
              <a:ea typeface="华文楷体" panose="02010600040101010101" pitchFamily="2" charset="-122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97316" y="649203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436" y="131775"/>
            <a:ext cx="2298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Thank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You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50" dirty="0"/>
              <a:t>！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7316" y="649203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177</Words>
  <Application>Microsoft Office PowerPoint</Application>
  <PresentationFormat>全屏显示(4:3)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Microsoft JhengHei</vt:lpstr>
      <vt:lpstr>华文楷体</vt:lpstr>
      <vt:lpstr>SimSun</vt:lpstr>
      <vt:lpstr>Arial</vt:lpstr>
      <vt:lpstr>Times New Roman</vt:lpstr>
      <vt:lpstr>Office Theme</vt:lpstr>
      <vt:lpstr>期中汇报</vt:lpstr>
      <vt:lpstr>任务示例</vt:lpstr>
      <vt:lpstr>References</vt:lpstr>
      <vt:lpstr>评价指标</vt:lpstr>
      <vt:lpstr>每个小组建议4人 </vt:lpstr>
      <vt:lpstr>Thank You 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zxh</dc:creator>
  <cp:lastModifiedBy>fringe ily</cp:lastModifiedBy>
  <cp:revision>2</cp:revision>
  <dcterms:created xsi:type="dcterms:W3CDTF">2026-10-18T14:33:17Z</dcterms:created>
  <dcterms:modified xsi:type="dcterms:W3CDTF">2026-10-18T15:11:12Z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2025-10-30T00:00:00Z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2026-10-18T00:00:00Z</vt:filetime>
  </property>
  <property fmtid="{D5CDD505-2E9C-101B-9397-08002B2CF9AE}" pid="6" name="Producer">
    <vt:lpwstr>3-Heights(TM) PDF Security Shell 4.8.25.2 (http://www.pdf-tools.com)</vt:lpwstr>
  </property>
</Properties>
</file>